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Rate Limiter 서비스 소개. 클라이언트의 과도한 요청을 제한해 서버 자원을 보호하는 백엔드 서비스.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937760" cy="4937760"/>
          </a:xfrm>
          <a:prstGeom prst="ellipse">
            <a:avLst/>
          </a:prstGeom>
          <a:solidFill>
            <a:srgbClr val="1638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TOKEN BUCKET · RATE LIMITING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Rate Limiter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24871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520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 API 요청으로부터 서버를 지키는 '문지기' 백엔드 서비스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732520" y="21488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1B6C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07424" y="370332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Shape 7"/>
          <p:cNvSpPr/>
          <p:nvPr/>
        </p:nvSpPr>
        <p:spPr>
          <a:xfrm>
            <a:off x="9866376" y="370332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Shape 8"/>
          <p:cNvSpPr/>
          <p:nvPr/>
        </p:nvSpPr>
        <p:spPr>
          <a:xfrm>
            <a:off x="10625328" y="3703320"/>
            <a:ext cx="384048" cy="384048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0" y="4526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= 토큰 1개 소비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v0.1.0</a:t>
            </a:r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Python · FastAPI · Redis / In-Memory · Webhook 알림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요청 제한이 필요한가?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API에 아무 제한이 없으면, 소수의 클라이언트가 폭주하는 것만으로도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서비스가 흔들립니다. 요청 제한은 서버를 지키는 최소한의 안전장치입니다.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08376"/>
            <a:ext cx="475488" cy="475488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008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72768" y="291693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과부하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07408" y="2916936"/>
            <a:ext cx="6940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폭주로 CPU·메모리 고갈 → 응답 지연, 최악의 경우 서비스 다운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67912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4087368"/>
            <a:ext cx="475488" cy="47548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87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72768" y="399592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폭증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07408" y="3995928"/>
            <a:ext cx="6940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불필요·악의적 트래픽까지 모두 처리 → 서버·트래픽 비용 낭비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946904"/>
            <a:ext cx="11055096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5166360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66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72768" y="50749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형평성 붕괴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07408" y="5074920"/>
            <a:ext cx="6940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사용자가 자원을 독점 → 다른 정상 사용자가 피해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문장으로: '지금 요청해도 되나요?'에 답한다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클라이언트별로 </a:t>
            </a:r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허용할지 실시간으로 판정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한도를 넘으면 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429(Too Many Requests)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막아줍니다.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5852160" cy="3017520"/>
          </a:xfrm>
          <a:prstGeom prst="roundRect">
            <a:avLst>
              <a:gd name="adj" fmla="val 3030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🪣  물통 비유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4032504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손님마다 물통이 하나씩 — 물이 곧 '요청 가능 횟수'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" y="4544568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4897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요청할 때마다 물 한 컵 소비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" y="5056632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50017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물이 있으면 통과, 없으면 '잠시 후 다시'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2688" y="5568696"/>
            <a:ext cx="128016" cy="12801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5138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지나면 물통이 조금씩 다시 채워짐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3383280"/>
            <a:ext cx="3291840" cy="2651760"/>
          </a:xfrm>
          <a:prstGeom prst="roundRect">
            <a:avLst>
              <a:gd name="adj" fmla="val 4138"/>
            </a:avLst>
          </a:prstGeom>
          <a:solidFill>
            <a:srgbClr val="1B6C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6410" y="539496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Shape 15"/>
          <p:cNvSpPr/>
          <p:nvPr/>
        </p:nvSpPr>
        <p:spPr>
          <a:xfrm>
            <a:off x="9041587" y="539496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Shape 16"/>
          <p:cNvSpPr/>
          <p:nvPr/>
        </p:nvSpPr>
        <p:spPr>
          <a:xfrm>
            <a:off x="9776765" y="5394960"/>
            <a:ext cx="384048" cy="384048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1942" y="5394960"/>
            <a:ext cx="384048" cy="384048"/>
          </a:xfrm>
          <a:prstGeom prst="ellipse">
            <a:avLst/>
          </a:prstGeom>
          <a:solidFill>
            <a:srgbClr val="3A5A7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가득 참 → 통과 / 비면 → 429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원리 — Token Bucket 알고리즘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352294" cy="3017520"/>
          </a:xfrm>
          <a:prstGeom prst="roundRect">
            <a:avLst>
              <a:gd name="adj" fmla="val 3887"/>
            </a:avLst>
          </a:prstGeom>
          <a:solidFill>
            <a:srgbClr val="16385A"/>
          </a:solidFill>
          <a:ln w="12700">
            <a:solidFill>
              <a:srgbClr val="16385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3035" y="2240280"/>
            <a:ext cx="640080" cy="64008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1423035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04088" y="3063240"/>
            <a:ext cx="2077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채우기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520440"/>
            <a:ext cx="19865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통(bucket)에 최대 용량만큼 토큰을 채워둔다. (= 허용 한도)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4086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865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67862" y="1965960"/>
            <a:ext cx="2352294" cy="3017520"/>
          </a:xfrm>
          <a:prstGeom prst="roundRect">
            <a:avLst>
              <a:gd name="adj" fmla="val 3887"/>
            </a:avLst>
          </a:prstGeom>
          <a:solidFill>
            <a:srgbClr val="16385A"/>
          </a:solidFill>
          <a:ln w="12700">
            <a:solidFill>
              <a:srgbClr val="16385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3969" y="224028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432396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05022" y="3063240"/>
            <a:ext cx="2077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= 소비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0742" y="3520440"/>
            <a:ext cx="19865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올 때마다 토큰을 1개 사용한다.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75020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865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68796" y="1965960"/>
            <a:ext cx="2352294" cy="3017520"/>
          </a:xfrm>
          <a:prstGeom prst="roundRect">
            <a:avLst>
              <a:gd name="adj" fmla="val 3887"/>
            </a:avLst>
          </a:prstGeom>
          <a:solidFill>
            <a:srgbClr val="16385A"/>
          </a:solidFill>
          <a:ln w="12700">
            <a:solidFill>
              <a:srgbClr val="16385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4903" y="2240280"/>
            <a:ext cx="640080" cy="6400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18" name="Text 16"/>
          <p:cNvSpPr/>
          <p:nvPr/>
        </p:nvSpPr>
        <p:spPr>
          <a:xfrm>
            <a:off x="722490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05956" y="3063240"/>
            <a:ext cx="2077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51676" y="3520440"/>
            <a:ext cx="19865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토큰이 있으면 허용(200), 없으면 차단(429).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5954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865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69730" y="1965960"/>
            <a:ext cx="2352294" cy="3017520"/>
          </a:xfrm>
          <a:prstGeom prst="roundRect">
            <a:avLst>
              <a:gd name="adj" fmla="val 3887"/>
            </a:avLst>
          </a:prstGeom>
          <a:solidFill>
            <a:srgbClr val="16385A"/>
          </a:solidFill>
          <a:ln w="12700">
            <a:solidFill>
              <a:srgbClr val="16385A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25837" y="22402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4" name="Text 22"/>
          <p:cNvSpPr/>
          <p:nvPr/>
        </p:nvSpPr>
        <p:spPr>
          <a:xfrm>
            <a:off x="10125837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406890" y="3063240"/>
            <a:ext cx="20779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리필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52610" y="3520440"/>
            <a:ext cx="19865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지나면 초당 일정 속도로 토큰이 다시 채워진다.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53492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버스트(순간 몰림)를 허용하면서도 평균 속도를 제어 — 그래서 기본 알고리즘으로 채택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요금제별 차등 제한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서버라도 요금제(plan)마다 물통 크기가 다릅니다. 정책은 실행 중에도 바꿀 수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3380232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606040"/>
            <a:ext cx="283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301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49808" y="429768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/ 분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983480"/>
            <a:ext cx="283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버스트 100 · 무료·IP 기준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4360" y="2331720"/>
            <a:ext cx="3380232" cy="3291840"/>
          </a:xfrm>
          <a:prstGeom prst="roundRect">
            <a:avLst>
              <a:gd name="adj" fmla="val 2778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8680" y="2606040"/>
            <a:ext cx="283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7240" y="3154680"/>
            <a:ext cx="301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587240" y="429768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/ 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78680" y="4983480"/>
            <a:ext cx="283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버스트 1,200 · API Key 필요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41792" y="2331720"/>
            <a:ext cx="3380232" cy="3291840"/>
          </a:xfrm>
          <a:prstGeom prst="roundRect">
            <a:avLst>
              <a:gd name="adj" fmla="val 2778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16112" y="2606040"/>
            <a:ext cx="283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24672" y="3154680"/>
            <a:ext cx="301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10,000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424672" y="429768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/ 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16112" y="4983480"/>
            <a:ext cx="283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버스트 15,000 · 대규모 트래픽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API 엔드포인트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98948" cy="1170432"/>
          </a:xfrm>
          <a:prstGeom prst="roundRect">
            <a:avLst>
              <a:gd name="adj" fmla="val 781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39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47088" y="2002536"/>
            <a:ext cx="3835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65376" y="2441448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허용 여부 판정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3076" y="1783080"/>
            <a:ext cx="5298948" cy="1170432"/>
          </a:xfrm>
          <a:prstGeom prst="roundRect">
            <a:avLst>
              <a:gd name="adj" fmla="val 781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79108" y="2039112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579108" y="20391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03236" y="2002536"/>
            <a:ext cx="3835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/v1/usage/{id}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1524" y="2441448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잔여량 조회 (소비 없음)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209544"/>
            <a:ext cx="5298948" cy="1170432"/>
          </a:xfrm>
          <a:prstGeom prst="roundRect">
            <a:avLst>
              <a:gd name="adj" fmla="val 781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465576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655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47088" y="3429000"/>
            <a:ext cx="3835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/v1/policies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65376" y="3867912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목록 조회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23076" y="3209544"/>
            <a:ext cx="5298948" cy="1170432"/>
          </a:xfrm>
          <a:prstGeom prst="roundRect">
            <a:avLst>
              <a:gd name="adj" fmla="val 781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79108" y="3465576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79108" y="34655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03236" y="3429000"/>
            <a:ext cx="3835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/v1/policies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1524" y="3867912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등록·수정 (동적)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636008"/>
            <a:ext cx="5298948" cy="1170432"/>
          </a:xfrm>
          <a:prstGeom prst="roundRect">
            <a:avLst>
              <a:gd name="adj" fmla="val 781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892040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892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47088" y="4855464"/>
            <a:ext cx="3835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865376" y="5294376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상태·백엔드 확인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323076" y="4636008"/>
            <a:ext cx="5298948" cy="1170432"/>
          </a:xfrm>
          <a:prstGeom prst="roundRect">
            <a:avLst>
              <a:gd name="adj" fmla="val 781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79108" y="4892040"/>
            <a:ext cx="868680" cy="384048"/>
          </a:xfrm>
          <a:prstGeom prst="roundRect">
            <a:avLst>
              <a:gd name="adj" fmla="val 11905"/>
            </a:avLst>
          </a:prstGeom>
          <a:solidFill>
            <a:srgbClr val="E8623D"/>
          </a:solidFill>
          <a:ln/>
        </p:spPr>
      </p:sp>
      <p:sp>
        <p:nvSpPr>
          <p:cNvPr id="31" name="Text 29"/>
          <p:cNvSpPr/>
          <p:nvPr/>
        </p:nvSpPr>
        <p:spPr>
          <a:xfrm>
            <a:off x="6579108" y="489204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03236" y="4855464"/>
            <a:ext cx="38359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/demo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1524" y="5294376"/>
            <a:ext cx="3835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제한 예시 (초과 시 429)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66928" y="61722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 응답에는 Retry-After · X-RateLimit-Limit · X-RateLimit-Remaining 헤더가 포함됩니다.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시연 — free 한도를 2로 줄이면?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정책을 requests=2로 바꾼 뒤 /demo 를 연속 호출한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6858000" cy="566928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21488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75688" y="21488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87368" y="2148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715768"/>
            <a:ext cx="6858000" cy="566928"/>
          </a:xfrm>
          <a:prstGeom prst="rect">
            <a:avLst/>
          </a:prstGeom>
          <a:solidFill>
            <a:srgbClr val="E7F5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7157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75688" y="27157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87368" y="2715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허용되었습니다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282696"/>
            <a:ext cx="6858000" cy="566928"/>
          </a:xfrm>
          <a:prstGeom prst="rect">
            <a:avLst/>
          </a:prstGeom>
          <a:solidFill>
            <a:srgbClr val="E7F5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28269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75688" y="32826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87368" y="32826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허용되었습니다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849624"/>
            <a:ext cx="6858000" cy="566928"/>
          </a:xfrm>
          <a:prstGeom prst="rect">
            <a:avLst/>
          </a:prstGeom>
          <a:solidFill>
            <a:srgbClr val="FCE9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84962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75688" y="384962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87368" y="3849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— 차단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416552"/>
            <a:ext cx="6858000" cy="566928"/>
          </a:xfrm>
          <a:prstGeom prst="rect">
            <a:avLst/>
          </a:prstGeom>
          <a:solidFill>
            <a:srgbClr val="FCE9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41655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75688" y="441655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87368" y="44165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— 차단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4983480"/>
            <a:ext cx="6858000" cy="566928"/>
          </a:xfrm>
          <a:prstGeom prst="rect">
            <a:avLst/>
          </a:prstGeom>
          <a:solidFill>
            <a:srgbClr val="FCE9E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9834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75688" y="49834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429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87368" y="49834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— 차단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818120" y="2148840"/>
            <a:ext cx="3803904" cy="1600200"/>
          </a:xfrm>
          <a:prstGeom prst="roundRect">
            <a:avLst>
              <a:gd name="adj" fmla="val 5714"/>
            </a:avLst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92440" y="2331720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차단된 429 응답 헤더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2788920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Retry-After: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X-RateLimit-Limit: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X-RateLimit-Remaining: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62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818120" y="3977640"/>
            <a:ext cx="3803904" cy="1737360"/>
          </a:xfrm>
          <a:prstGeom prst="roundRect">
            <a:avLst>
              <a:gd name="adj" fmla="val 5263"/>
            </a:avLst>
          </a:prstGeom>
          <a:solidFill>
            <a:srgbClr val="E7F5F1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92440" y="42062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4" name="Text 32"/>
          <p:cNvSpPr/>
          <p:nvPr/>
        </p:nvSpPr>
        <p:spPr>
          <a:xfrm>
            <a:off x="80924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86800" y="418795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손님별로 물통이 따로!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092440" y="4754880"/>
            <a:ext cx="3255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free(IP)가 429로 막힌 그 순간에도, pro 키로 요청하면 200 정상 통과 (잔여 1,199 / 1,200). 요금제마다 독립적으로 제한됩니다.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66928" y="56601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3회째부터 정확히 429 — Retry-After 30초 안내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6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&amp; 처리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283714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65960"/>
            <a:ext cx="109728" cy="13716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191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872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X-API-Key 또는 IP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60370" y="2286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90722" y="1965960"/>
            <a:ext cx="2283714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0722" y="1965960"/>
            <a:ext cx="109728" cy="13716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746754" y="2194560"/>
            <a:ext cx="191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6754" y="2697480"/>
            <a:ext cx="1872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접수 · 라우팅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884164" y="2286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14516" y="1965960"/>
            <a:ext cx="2283714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14516" y="1965960"/>
            <a:ext cx="109728" cy="1371600"/>
          </a:xfrm>
          <a:prstGeom prst="rect">
            <a:avLst/>
          </a:prstGeom>
          <a:solidFill>
            <a:srgbClr val="0F2A43"/>
          </a:solidFill>
          <a:ln/>
        </p:spPr>
      </p:sp>
      <p:sp>
        <p:nvSpPr>
          <p:cNvPr id="16" name="Text 14"/>
          <p:cNvSpPr/>
          <p:nvPr/>
        </p:nvSpPr>
        <p:spPr>
          <a:xfrm>
            <a:off x="6670548" y="2194560"/>
            <a:ext cx="191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0548" y="2697480"/>
            <a:ext cx="1872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In-Memory / Redis+Lua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07958" y="2286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338310" y="1965960"/>
            <a:ext cx="2283714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38310" y="1965960"/>
            <a:ext cx="109728" cy="1371600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21" name="Text 19"/>
          <p:cNvSpPr/>
          <p:nvPr/>
        </p:nvSpPr>
        <p:spPr>
          <a:xfrm>
            <a:off x="9594342" y="2194560"/>
            <a:ext cx="1917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웹훅 알림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94342" y="2697480"/>
            <a:ext cx="18722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시 Slack·Discord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37947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스택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4297680"/>
            <a:ext cx="1664208" cy="502920"/>
          </a:xfrm>
          <a:prstGeom prst="roundRect">
            <a:avLst>
              <a:gd name="adj" fmla="val 4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2976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487168" y="4297680"/>
            <a:ext cx="1664208" cy="502920"/>
          </a:xfrm>
          <a:prstGeom prst="roundRect">
            <a:avLst>
              <a:gd name="adj" fmla="val 4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87168" y="429768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Uvicorn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407408" y="4297680"/>
            <a:ext cx="1810512" cy="502920"/>
          </a:xfrm>
          <a:prstGeom prst="roundRect">
            <a:avLst>
              <a:gd name="adj" fmla="val 4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42976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Pydantic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73952" y="4297680"/>
            <a:ext cx="2249424" cy="502920"/>
          </a:xfrm>
          <a:prstGeom prst="roundRect">
            <a:avLst>
              <a:gd name="adj" fmla="val 4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297680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+ Lua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979408" y="4297680"/>
            <a:ext cx="2542032" cy="502920"/>
          </a:xfrm>
          <a:prstGeom prst="roundRect">
            <a:avLst>
              <a:gd name="adj" fmla="val 4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79408" y="42976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httpx (async)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1777472" y="4297680"/>
            <a:ext cx="3127248" cy="502920"/>
          </a:xfrm>
          <a:prstGeom prst="roundRect">
            <a:avLst>
              <a:gd name="adj" fmla="val 4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77472" y="4297680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6C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· 25 tests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66928" y="516636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E7F5F1"/>
          </a:solidFill>
          <a:ln w="12700">
            <a:solidFill>
              <a:srgbClr val="2A9D8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1248" y="539496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527048" y="5257800"/>
            <a:ext cx="9866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Redis가 없어도 자동으로 인메모리 백엔드로 폴백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별도 설치 없이 바로 실행됩니다. 분산 환경에서는 Redis + Lua로 원자적 카운팅.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하이라이트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98948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75688"/>
            <a:ext cx="658368" cy="65836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09928" y="2002536"/>
            <a:ext cx="3973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식별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28216" y="2459736"/>
            <a:ext cx="3927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X-API-Key 헤더 우선, 없으면 소스 IP로 자동 폴백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23076" y="1783080"/>
            <a:ext cx="5298948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97396" y="2075688"/>
            <a:ext cx="658368" cy="65836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6597396" y="2075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66076" y="2002536"/>
            <a:ext cx="3973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정책 변경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84364" y="2459736"/>
            <a:ext cx="3927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/v1/policies 로 실행 중 한도 즉시 변경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282696"/>
            <a:ext cx="5298948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575304"/>
            <a:ext cx="658368" cy="65836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5753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09928" y="3502152"/>
            <a:ext cx="3973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대응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28216" y="3959352"/>
            <a:ext cx="3927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오류 시 fail-open / fail-close 선택 (기본 통과)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3076" y="3282696"/>
            <a:ext cx="5298948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7396" y="3575304"/>
            <a:ext cx="658368" cy="658368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97396" y="35753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66076" y="3502152"/>
            <a:ext cx="3973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웹훅 알림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84364" y="3959352"/>
            <a:ext cx="3927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시 Slack·Discord·Telegram 전송, 쿨다운 중복 방지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782312"/>
            <a:ext cx="5298948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074920"/>
            <a:ext cx="658368" cy="658368"/>
          </a:xfrm>
          <a:prstGeom prst="ellipse">
            <a:avLst/>
          </a:prstGeom>
          <a:solidFill>
            <a:srgbClr val="0F2A43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074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709928" y="5001768"/>
            <a:ext cx="3973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폴백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728216" y="5458968"/>
            <a:ext cx="3927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연결 실패 시 인메모리로 무중단 전환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23076" y="4782312"/>
            <a:ext cx="5298948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B2B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97396" y="5074920"/>
            <a:ext cx="658368" cy="65836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1" name="Text 29"/>
          <p:cNvSpPr/>
          <p:nvPr/>
        </p:nvSpPr>
        <p:spPr>
          <a:xfrm>
            <a:off x="6597396" y="5074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466076" y="5001768"/>
            <a:ext cx="3973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484364" y="5458968"/>
            <a:ext cx="3927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25개 통과 — 토큰버킷·식별·알림·API 검증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017520"/>
            <a:ext cx="5120640" cy="5120640"/>
          </a:xfrm>
          <a:prstGeom prst="ellipse">
            <a:avLst/>
          </a:prstGeom>
          <a:solidFill>
            <a:srgbClr val="16385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50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457200" cy="45720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2728" y="22494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웹훅 실연동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73168" y="224942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Slack·Discord 채널에 429 알림 실제 발송 테스트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2728" y="2999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실구동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73168" y="29992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분산·다중 인스턴스 원자적 카운팅 경로 검증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785616"/>
            <a:ext cx="457200" cy="45720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52728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영속화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73168" y="3749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재시작해도 유지 · API Key→요금제 DB 매핑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4535424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2728" y="4498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대시보드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773168" y="44988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정책·사용량을 표·그래프로 보는 관리 UI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5623560"/>
            <a:ext cx="11055096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58978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A9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과도한 요청은 막고, 정상 사용자는 지킨다.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" y="64008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Rate Limiter 서비스 · v0.1.0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2026-07-22T03:27:40Z</dcterms:created>
  <dcterms:modified xsi:type="dcterms:W3CDTF">2026-07-22T03:27:40Z</dcterms:modified>
</cp:coreProperties>
</file>